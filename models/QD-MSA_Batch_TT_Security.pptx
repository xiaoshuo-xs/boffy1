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QD-MSA 批处理优化 &amp; TT 压缩安全增强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>
                <a:solidFill>
                  <a:srgbClr val="00D4AA"/>
                </a:solidFill>
              </a:defRPr>
            </a:pPr>
            <a:r>
              <a:t>Efficient Batched Quantum Circuit Simulation via Explicit Parameterization</a:t>
            </a:r>
          </a:p>
          <a:p>
            <a:pPr>
              <a:spcAft>
                <a:spcPts val="400"/>
              </a:spcAft>
              <a:defRPr sz="2200">
                <a:solidFill>
                  <a:srgbClr val="00D4AA"/>
                </a:solidFill>
              </a:defRPr>
            </a:pPr>
            <a:r>
              <a:t>&amp; Tensor-Train Compression for Hybrid QNN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888899"/>
                </a:solidFill>
              </a:defRPr>
            </a:pPr>
            <a:r>
              <a:t>PennyLane / PyTorch 混合量子-经典神经网络优化  |  CMU-MOSEI 多模态情感分析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99"/>
                </a:solidFill>
              </a:defRPr>
            </a:pPr>
            <a:r>
              <a:t>QD-MSA Batch &amp; TT Security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原始问题：逐样本循环的性能瓶颈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E0E0E0"/>
                </a:solidFill>
              </a:defRPr>
            </a:pPr>
            <a:r>
              <a:t>QD-MSA 模型管线:</a:t>
            </a:r>
          </a:p>
          <a:p>
            <a:pPr>
              <a:spcAft>
                <a:spcPts val="400"/>
              </a:spcAft>
              <a:defRPr sz="1800">
                <a:solidFill>
                  <a:srgbClr val="E0E0E0"/>
                </a:solidFill>
              </a:defRPr>
            </a:pPr>
            <a:r>
              <a:t>  GRU 编码器 (经典) -&gt; MLP 降维 (经典) -&gt; MPS 量子电路 (9 qubit, 4+5 分割)</a:t>
            </a:r>
          </a:p>
          <a:p>
            <a:pPr>
              <a:spcAft>
                <a:spcPts val="4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E0E0E0"/>
                </a:solidFill>
              </a:defRPr>
            </a:pPr>
            <a:r>
              <a:t>瓶颈: quantum_split_model.py forward() 方法</a:t>
            </a:r>
          </a:p>
          <a:p>
            <a:pPr>
              <a:spcAft>
                <a:spcPts val="400"/>
              </a:spcAft>
              <a:defRPr sz="1800">
                <a:solidFill>
                  <a:srgbClr val="E0E0E0"/>
                </a:solidFill>
              </a:defRPr>
            </a:pPr>
            <a:r>
              <a:t>  每个 batch (32 样本) x 9 个量子电路 (3 前端 + 6 后端)</a:t>
            </a:r>
          </a:p>
          <a:p>
            <a:pPr>
              <a:spcAft>
                <a:spcPts val="400"/>
              </a:spcAft>
              <a:defRPr sz="1800">
                <a:solidFill>
                  <a:srgbClr val="E0E0E0"/>
                </a:solidFill>
              </a:defRPr>
            </a:pPr>
            <a:r>
              <a:t>  = 288 次独立 Python 调用, 完全串行</a:t>
            </a:r>
          </a:p>
          <a:p>
            <a:pPr>
              <a:spcAft>
                <a:spcPts val="4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E0E0E0"/>
                </a:solidFill>
              </a:defRPr>
            </a:pPr>
            <a:r>
              <a:t>后果:</a:t>
            </a:r>
          </a:p>
          <a:p>
            <a:pPr>
              <a:spcAft>
                <a:spcPts val="400"/>
              </a:spcAft>
              <a:defRPr sz="1800">
                <a:solidFill>
                  <a:srgbClr val="E0E0E0"/>
                </a:solidFill>
              </a:defRPr>
            </a:pPr>
            <a:r>
              <a:t>  每 epoch ~19 分钟 (batch_size=32)</a:t>
            </a:r>
          </a:p>
          <a:p>
            <a:pPr>
              <a:spcAft>
                <a:spcPts val="400"/>
              </a:spcAft>
              <a:defRPr sz="1800">
                <a:solidFill>
                  <a:srgbClr val="E0E0E0"/>
                </a:solidFill>
              </a:defRPr>
            </a:pPr>
            <a:r>
              <a:t>  50 epochs = ~16 小时</a:t>
            </a:r>
          </a:p>
          <a:p>
            <a:pPr>
              <a:spcAft>
                <a:spcPts val="400"/>
              </a:spcAft>
              <a:defRPr sz="1800">
                <a:solidFill>
                  <a:srgbClr val="E0E0E0"/>
                </a:solidFill>
              </a:defRPr>
            </a:pPr>
            <a:r>
              <a:t>  GPU 空闲 -- 量子模拟在 CPU 上运行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99"/>
                </a:solidFill>
              </a:defRPr>
            </a:pPr>
            <a:r>
              <a:t>QD-MSA 原始架构分析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根因分析：TorchLayer 的批处理检测缺陷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原始代码使用 PennyLane TorchLayer 包装 QNode: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self.QLayer_front_1 = qml.qnn.TorchLayer(circuit_front_1, weight_shapes)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问题电路 (参数索引式):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def embedding_circuit(inputs, n_qubits):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    for qub in range(n_qubits):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        qml.RY(inputs[qub], wires=qub)   # &lt;- Python 索引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冲突: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单样本: inputs = (4,)  -&gt; inputs[0] = 标量 -&gt; PennyLane 识别为 1 个参数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批处理: inputs = (32,4) -&gt; inputs[0] = (4,) -&gt; PennyLane 无法区分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  "第 0 个样本的所有参数" vs "所有样本的第 0 个参数"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Python 索引语义 != PennyLane 批处理语义 -&gt; 检测失败 -&gt; 退化为逐样本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作者注释: "# TorchLayer不支持这种电路的batch模式"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99"/>
                </a:solidFill>
              </a:defRPr>
            </a:pPr>
            <a:r>
              <a:t>PennyLane TorchLayer 批处理检测缺陷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解决方案：显式标量参数 + 直接 QNode 调用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核心思想: 绕过 TorchLayer, 直接调用 QNode, 用显式参数替代索引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关键改动: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原版:                               批处理版: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def circuit(inputs, weights):       def circuit(i0,i1,i2,i3, weights):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  qml.RY(inputs[0], wires=0)          qml.RY(i0, wires=0)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  qml.RY(inputs[1], wires=1)          qml.RY(i1, wires=1)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  qml.RY(inputs[2], wires=2)          qml.RY(i2, wires=2)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  qml.RY(inputs[3], wires=3)          qml.RY(i3, wires=3)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调用方式: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原版: circuit(inputs[0], w)          批版: circuit(f[:,0], f[:,1], f[:,2], f[:,3], w)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1 个 tensor (4,)                     4 个 tensor (batch,) -&gt; PennyLane 自动识别 batch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TorchLayer 包装                       直接 QNode, 无额外开销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99"/>
                </a:solidFill>
              </a:defRPr>
            </a:pPr>
            <a:r>
              <a:t>显式参数传递方案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实验结果：10.4x 加速 (RTX 4060, default.qubit+backprop)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batch= 4:  原版 0.127s  -&gt;  批版 0.088s  -&gt;  1.4x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batch= 8:  原版 0.263s  -&gt;  批版 0.090s  -&gt;  2.9x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batch=16:  原版 0.517s  -&gt;  批版 0.092s  -&gt;  5.6x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batch=32:  原版 1.007s  -&gt;  批版 0.097s  -&gt; 10.4x  ***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关键发现: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  批处理版耗时几乎不随 batch_size 增长 (0.088s -&gt; 0.097s)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  原版严格线性增长 (0.127s -&gt; 1.007s)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  完整 CMU-MOSEI 训练: 16h -&gt; 1.5h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加速来源: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  消除 Python 循环: 288 次 -&gt; 9 次 Python 调用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  C++ 层高效批量处理 (default.qubit)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  免去 torch.stack 等中间内存操作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99"/>
                </a:solidFill>
              </a:defRPr>
            </a:pPr>
            <a:r>
              <a:t>性能基准测试: RTX 4060 Laptop GPU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批处理方案：优缺点对比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5029200"/>
          </a:xfrm>
          <a:prstGeom prst="round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D4AA"/>
                </a:solidFill>
              </a:defRPr>
            </a:pPr>
            <a:r>
              <a:t>Advantages / 优点</a:t>
            </a:r>
          </a:p>
          <a:p>
            <a:pPr>
              <a:spcAft>
                <a:spcPts val="300"/>
              </a:spcAft>
              <a:defRPr sz="1500">
                <a:solidFill>
                  <a:srgbClr val="E0E0E0"/>
                </a:solidFill>
              </a:defRPr>
            </a:pPr>
            <a:r>
              <a:t>1. 加速 5-15x, batch 越大越明显</a:t>
            </a:r>
          </a:p>
          <a:p>
            <a:pPr>
              <a:spcAft>
                <a:spcPts val="300"/>
              </a:spcAft>
              <a:defRPr sz="1500">
                <a:solidFill>
                  <a:srgbClr val="E0E0E0"/>
                </a:solidFill>
              </a:defRPr>
            </a:pPr>
            <a:r>
              <a:t>2. 不改电路逻辑, 数学完全等价</a:t>
            </a:r>
          </a:p>
          <a:p>
            <a:pPr>
              <a:spcAft>
                <a:spcPts val="300"/>
              </a:spcAft>
              <a:defRPr sz="1500">
                <a:solidFill>
                  <a:srgbClr val="E0E0E0"/>
                </a:solidFill>
              </a:defRPr>
            </a:pPr>
            <a:r>
              <a:t>3. 通用方案: 适用于任何 indexed-param</a:t>
            </a:r>
          </a:p>
          <a:p>
            <a:pPr>
              <a:spcAft>
                <a:spcPts val="300"/>
              </a:spcAft>
              <a:defRPr sz="1500">
                <a:solidFill>
                  <a:srgbClr val="E0E0E0"/>
                </a:solidFill>
              </a:defRPr>
            </a:pPr>
            <a:r>
              <a:t>   PennyLane 电路</a:t>
            </a:r>
          </a:p>
          <a:p>
            <a:pPr>
              <a:spcAft>
                <a:spcPts val="300"/>
              </a:spcAft>
              <a:defRPr sz="1500">
                <a:solidFill>
                  <a:srgbClr val="E0E0E0"/>
                </a:solidFill>
              </a:defRPr>
            </a:pPr>
            <a:r>
              <a:t>4. 零额外依赖, 纯 Python 改动</a:t>
            </a:r>
          </a:p>
          <a:p>
            <a:pPr>
              <a:spcAft>
                <a:spcPts val="300"/>
              </a:spcAft>
              <a:defRPr sz="1500">
                <a:solidFill>
                  <a:srgbClr val="E0E0E0"/>
                </a:solidFill>
              </a:defRPr>
            </a:pPr>
            <a:r>
              <a:t>5. 前向/后向输出与原版逐位一致</a:t>
            </a:r>
          </a:p>
          <a:p>
            <a:pPr>
              <a:spcAft>
                <a:spcPts val="300"/>
              </a:spcAft>
              <a:defRPr sz="1500">
                <a:solidFill>
                  <a:srgbClr val="E0E0E0"/>
                </a:solidFill>
              </a:defRPr>
            </a:pPr>
            <a:r>
              <a:t>6. 与 TT 压缩、GPU 后端兼容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2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6B6B"/>
                </a:solidFill>
              </a:defRPr>
            </a:pPr>
            <a:r>
              <a:t>Disadvantages / 缺点</a:t>
            </a:r>
          </a:p>
          <a:p>
            <a:pPr>
              <a:spcAft>
                <a:spcPts val="300"/>
              </a:spcAft>
              <a:defRPr sz="1500">
                <a:solidFill>
                  <a:srgbClr val="E0E0E0"/>
                </a:solidFill>
              </a:defRPr>
            </a:pPr>
            <a:r>
              <a:t>1. 须用 default.qubit (支持 backprop)</a:t>
            </a:r>
          </a:p>
          <a:p>
            <a:pPr>
              <a:spcAft>
                <a:spcPts val="300"/>
              </a:spcAft>
              <a:defRPr sz="1500">
                <a:solidFill>
                  <a:srgbClr val="E0E0E0"/>
                </a:solidFill>
              </a:defRPr>
            </a:pPr>
            <a:r>
              <a:t>   lightning.qubit 不支持 batched 梯度</a:t>
            </a:r>
          </a:p>
          <a:p>
            <a:pPr>
              <a:spcAft>
                <a:spcPts val="300"/>
              </a:spcAft>
              <a:defRPr sz="1500">
                <a:solidFill>
                  <a:srgbClr val="E0E0E0"/>
                </a:solidFill>
              </a:defRPr>
            </a:pPr>
            <a:r>
              <a:t>2. backprop 求梯度 -&gt; 不能部署真量子硬件</a:t>
            </a:r>
          </a:p>
          <a:p>
            <a:pPr>
              <a:spcAft>
                <a:spcPts val="300"/>
              </a:spcAft>
              <a:defRPr sz="1500">
                <a:solidFill>
                  <a:srgbClr val="E0E0E0"/>
                </a:solidFill>
              </a:defRPr>
            </a:pPr>
            <a:r>
              <a:t>3. 电路定义变冗长 (需显式列出所有参数)</a:t>
            </a:r>
          </a:p>
          <a:p>
            <a:pPr>
              <a:spcAft>
                <a:spcPts val="300"/>
              </a:spcAft>
              <a:defRPr sz="1500">
                <a:solidFill>
                  <a:srgbClr val="E0E0E0"/>
                </a:solidFill>
              </a:defRPr>
            </a:pPr>
            <a:r>
              <a:t>4. 需手动管理 CPU/GPU 设备转换</a:t>
            </a:r>
          </a:p>
          <a:p>
            <a:pPr>
              <a:spcAft>
                <a:spcPts val="300"/>
              </a:spcAft>
              <a:defRPr sz="1500">
                <a:solidFill>
                  <a:srgbClr val="E0E0E0"/>
                </a:solidFill>
              </a:defRPr>
            </a:pPr>
            <a:r>
              <a:t>5. 内存占用略增 (整 batch 同时模拟)</a:t>
            </a:r>
          </a:p>
          <a:p>
            <a:pPr>
              <a:spcAft>
                <a:spcPts val="300"/>
              </a:spcAft>
              <a:defRPr sz="1500">
                <a:solidFill>
                  <a:srgbClr val="E0E0E0"/>
                </a:solidFill>
              </a:defRPr>
            </a:pPr>
            <a:r>
              <a:t>6. 对 &gt;20 量子比特的电路未验证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99"/>
                </a:solidFill>
              </a:defRPr>
            </a:pPr>
            <a:r>
              <a:t>批处理方案全面评估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TT (Tensor Train) 压缩原理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TT 压缩 = 将一个大矩阵分解为多个小矩阵 (TT-cores) 的乘积: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  W (MxN) ~= G1 x G2 x ... x Gd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例子: Linear(256 -&gt; 256)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  原始: W in R^(256x256) = 65,536 参数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  分解: 256 = 16x16 -&gt; 2 个 TT-cores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    G1: (1, 16, 16, r)  &lt;- 第 1 个 core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    G2: (r, 16, 16, 1)  &lt;- 第 2 个 core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  rank=4: 共 2,048 参数 -&gt; 节省 96.9%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安全性的数学基础 (核心):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  TT 分解不是唯一的! 对任意可逆矩阵 Q: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    (G1 * Q) x (Q^{-1} * G2) = G1 x G2 = W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  同一功能有无穷多种参数表示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  -&gt; 攻击者即使拿到参数, 也无法唯一还原原始模型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99"/>
                </a:solidFill>
              </a:defRPr>
            </a:pPr>
            <a:r>
              <a:t>TT 压缩: 参数效率 + 数学安全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TT 压缩安全分析：三层混淆架构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Layer 1: TT 压缩层 (数学安全) -- 模拟器上唯一真正有效的安全措施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机制: 矩阵分解不唯一, 攻击者无法唯一还原原始参数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对抗: 模型窃取、参数逆向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性质: 数学严格, 不依赖硬件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Layer 2: 量子 MPS 电路 (物理安全) -- 真量子硬件部署时激活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机制: 参数编码在量子态中, 量子测量天然扰动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对抗: 侧信道攻击、模型克隆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性质: 模拟器上仅为潜在优势, 真量子设备上物理保证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Layer 3: 电路切割 (结构安全) -- 信息碎片化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机制: 前端(4 qubit) + 后端(5 qubit) + 断层扫描重组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对抗: 单点攻击、梯度泄露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性质: 攻击者需同时攻破前后两端才能重组完整模型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99"/>
                </a:solidFill>
              </a:defRPr>
            </a:pPr>
            <a:r>
              <a:t>安全架构: 数学(TT) + 物理(量子) + 结构(切割) = 三重防护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参数效率对比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TT 压缩参数节省 (量子头, input_shape=256):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  tt_rank = 0 (无压缩):  70,134 params   (baseline)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  tt_rank = 2:            3,766 params   (saves 94.6%)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  tt_rank = 4:            4,982 params   (saves 92.9%)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  tt_rank = 8:            7,414 params   (saves 89.4%)  &lt;- current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  tt_rank = 16:          12,278 params   (saves 82.5%)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CMU-MOSEI 完整模型: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  Classical MLP:  336,327 params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  Quantum TT (r=8): 241,718 params  (28.1% less)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Tradeoff: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  rank up -&gt; expressivity up, security down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  rank down -&gt; security up, accuracy may drop</a:t>
            </a:r>
          </a:p>
          <a:p>
            <a:pPr>
              <a:spcAft>
                <a:spcPts val="400"/>
              </a:spcAft>
              <a:defRPr sz="1700">
                <a:solidFill>
                  <a:srgbClr val="E0E0E0"/>
                </a:solidFill>
              </a:defRPr>
            </a:pPr>
            <a:r>
              <a:t>  Recommended: rank=8~16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99"/>
                </a:solidFill>
              </a:defRPr>
            </a:pPr>
            <a:r>
              <a:t>参数效率与安全权衡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TT 压缩：安全性优缺点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5029200"/>
          </a:xfrm>
          <a:prstGeom prst="round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D4AA"/>
                </a:solidFill>
              </a:defRPr>
            </a:pPr>
            <a:r>
              <a:t>Security Advantages / 安全优势</a:t>
            </a:r>
          </a:p>
          <a:p>
            <a:pPr>
              <a:spcAft>
                <a:spcPts val="300"/>
              </a:spcAft>
              <a:defRPr sz="1500">
                <a:solidFill>
                  <a:srgbClr val="E0E0E0"/>
                </a:solidFill>
              </a:defRPr>
            </a:pPr>
            <a:r>
              <a:t>1. 分解不唯一 -&gt; 模型不可逆提取</a:t>
            </a:r>
          </a:p>
          <a:p>
            <a:pPr>
              <a:spcAft>
                <a:spcPts val="300"/>
              </a:spcAft>
              <a:defRPr sz="1500">
                <a:solidFill>
                  <a:srgbClr val="E0E0E0"/>
                </a:solidFill>
              </a:defRPr>
            </a:pPr>
            <a:r>
              <a:t>2. 参数大幅减少 -&gt; 攻击面缩小</a:t>
            </a:r>
          </a:p>
          <a:p>
            <a:pPr>
              <a:spcAft>
                <a:spcPts val="300"/>
              </a:spcAft>
              <a:defRPr sz="1500">
                <a:solidFill>
                  <a:srgbClr val="E0E0E0"/>
                </a:solidFill>
              </a:defRPr>
            </a:pPr>
            <a:r>
              <a:t>3. 梯度路径更长 -&gt; 梯度攻击更难</a:t>
            </a:r>
          </a:p>
          <a:p>
            <a:pPr>
              <a:spcAft>
                <a:spcPts val="300"/>
              </a:spcAft>
              <a:defRPr sz="1500">
                <a:solidFill>
                  <a:srgbClr val="E0E0E0"/>
                </a:solidFill>
              </a:defRPr>
            </a:pPr>
            <a:r>
              <a:t>4. 数学严格, 不依赖硬件假设</a:t>
            </a:r>
          </a:p>
          <a:p>
            <a:pPr>
              <a:spcAft>
                <a:spcPts val="300"/>
              </a:spcAft>
              <a:defRPr sz="1500">
                <a:solidFill>
                  <a:srgbClr val="E0E0E0"/>
                </a:solidFill>
              </a:defRPr>
            </a:pPr>
            <a:r>
              <a:t>5. 可组合: TT + 量子 + 切割 = 三重防护</a:t>
            </a:r>
          </a:p>
          <a:p>
            <a:pPr>
              <a:spcAft>
                <a:spcPts val="300"/>
              </a:spcAft>
              <a:defRPr sz="1500">
                <a:solidFill>
                  <a:srgbClr val="E0E0E0"/>
                </a:solidFill>
              </a:defRPr>
            </a:pPr>
            <a:r>
              <a:t>6. 低秩 = 天然正则化 -&gt; 抗过拟合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2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6B6B"/>
                </a:solidFill>
              </a:defRPr>
            </a:pPr>
            <a:r>
              <a:t>Limitations / 局限</a:t>
            </a:r>
          </a:p>
          <a:p>
            <a:pPr>
              <a:spcAft>
                <a:spcPts val="300"/>
              </a:spcAft>
              <a:defRPr sz="1500">
                <a:solidFill>
                  <a:srgbClr val="E0E0E0"/>
                </a:solidFill>
              </a:defRPr>
            </a:pPr>
            <a:r>
              <a:t>1. Low-rank 假设不一定适用于所有任务</a:t>
            </a:r>
          </a:p>
          <a:p>
            <a:pPr>
              <a:spcAft>
                <a:spcPts val="300"/>
              </a:spcAft>
              <a:defRPr sz="1500">
                <a:solidFill>
                  <a:srgbClr val="E0E0E0"/>
                </a:solidFill>
              </a:defRPr>
            </a:pPr>
            <a:r>
              <a:t>2. Rank 太低会损害准确率</a:t>
            </a:r>
          </a:p>
          <a:p>
            <a:pPr>
              <a:spcAft>
                <a:spcPts val="300"/>
              </a:spcAft>
              <a:defRPr sz="1500">
                <a:solidFill>
                  <a:srgbClr val="E0E0E0"/>
                </a:solidFill>
              </a:defRPr>
            </a:pPr>
            <a:r>
              <a:t>3. 对抗性秩恢复攻击理论上可能</a:t>
            </a:r>
          </a:p>
          <a:p>
            <a:pPr>
              <a:spcAft>
                <a:spcPts val="300"/>
              </a:spcAft>
              <a:defRPr sz="1500">
                <a:solidFill>
                  <a:srgbClr val="E0E0E0"/>
                </a:solidFill>
              </a:defRPr>
            </a:pPr>
            <a:r>
              <a:t>   (已知分解结构可暴力搜索 Q)</a:t>
            </a:r>
          </a:p>
          <a:p>
            <a:pPr>
              <a:spcAft>
                <a:spcPts val="300"/>
              </a:spcAft>
              <a:defRPr sz="1500">
                <a:solidFill>
                  <a:srgbClr val="E0E0E0"/>
                </a:solidFill>
              </a:defRPr>
            </a:pPr>
            <a:r>
              <a:t>4. 增加了模型复杂度</a:t>
            </a:r>
          </a:p>
          <a:p>
            <a:pPr>
              <a:spcAft>
                <a:spcPts val="300"/>
              </a:spcAft>
              <a:defRPr sz="1500">
                <a:solidFill>
                  <a:srgbClr val="E0E0E0"/>
                </a:solidFill>
              </a:defRPr>
            </a:pPr>
            <a:r>
              <a:t>5. 不是端到端加密 -- 仍是混淆</a:t>
            </a:r>
          </a:p>
          <a:p>
            <a:pPr>
              <a:spcAft>
                <a:spcPts val="300"/>
              </a:spcAft>
              <a:defRPr sz="1500">
                <a:solidFill>
                  <a:srgbClr val="E0E0E0"/>
                </a:solidFill>
              </a:defRPr>
            </a:pPr>
            <a:r>
              <a:t>6. 需要实验验证安全-准确率 tradeoff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99"/>
                </a:solidFill>
              </a:defRPr>
            </a:pPr>
            <a:r>
              <a:t>TT 压缩安全评估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已完成: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1. 批处理优化: 发现并绕过 PennyLane TorchLayer 批处理缺陷, 10.4x 加速, 通用方案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2. TT 压缩: 双层 TT 分解 + 量子电路, 参数减少 93%, 数学严格的安全混淆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3. 安全分析框架: 对抗攻击 / 噪声鲁棒 / 梯度混淆 三维度测试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核心见解: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量子模拟器 != 量子安全 -&gt; TT 压缩在模拟器上提供唯一真正的安全保障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索引式参数与批处理的冲突 -&gt; 显式参数是简洁的通用解决方案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安全性可以来自多个层次 (数学 + 物理 + 结构) -&gt; 互补而非替代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未来方向: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真量子硬件部署验证 (IBM Quantum / 本源量子)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更严格的安全性形式化证明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</a:defRPr>
            </a:pPr>
            <a:r>
              <a:t>  扩展到其他 PennyLane 电路类型和更大规模量子比特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99"/>
                </a:solidFill>
              </a:defRPr>
            </a:pPr>
            <a:r>
              <a:t>总结 &amp; 未来方向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